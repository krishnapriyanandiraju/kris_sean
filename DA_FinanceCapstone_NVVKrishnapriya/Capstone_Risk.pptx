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74" r:id="rId3"/>
    <p:sldId id="275" r:id="rId4"/>
    <p:sldId id="273" r:id="rId5"/>
    <p:sldId id="276" r:id="rId6"/>
    <p:sldId id="257" r:id="rId7"/>
    <p:sldId id="259" r:id="rId8"/>
    <p:sldId id="261" r:id="rId9"/>
    <p:sldId id="262" r:id="rId10"/>
    <p:sldId id="264" r:id="rId11"/>
    <p:sldId id="265" r:id="rId12"/>
    <p:sldId id="266" r:id="rId13"/>
    <p:sldId id="269"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906FB86-B72F-4C48-BDBC-841F376783A1}" type="datetimeFigureOut">
              <a:rPr lang="en-GB" smtClean="0"/>
              <a:t>11/02/2022</a:t>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4276174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906FB86-B72F-4C48-BDBC-841F376783A1}" type="datetimeFigureOut">
              <a:rPr lang="en-GB" smtClean="0"/>
              <a:t>11/02/2022</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4177024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906FB86-B72F-4C48-BDBC-841F376783A1}" type="datetimeFigureOut">
              <a:rPr lang="en-GB" smtClean="0"/>
              <a:t>11/02/2022</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3891852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906FB86-B72F-4C48-BDBC-841F376783A1}" type="datetimeFigureOut">
              <a:rPr lang="en-GB" smtClean="0"/>
              <a:t>11/02/2022</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1453596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906FB86-B72F-4C48-BDBC-841F376783A1}" type="datetimeFigureOut">
              <a:rPr lang="en-GB" smtClean="0"/>
              <a:t>11/02/2022</a:t>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2845442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906FB86-B72F-4C48-BDBC-841F376783A1}" type="datetimeFigureOut">
              <a:rPr lang="en-GB" smtClean="0"/>
              <a:t>11/02/2022</a:t>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66651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06FB86-B72F-4C48-BDBC-841F376783A1}" type="datetimeFigureOut">
              <a:rPr lang="en-GB" smtClean="0"/>
              <a:t>11/02/2022</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598933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906FB86-B72F-4C48-BDBC-841F376783A1}" type="datetimeFigureOut">
              <a:rPr lang="en-GB" smtClean="0"/>
              <a:t>11/02/2022</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4144311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906FB86-B72F-4C48-BDBC-841F376783A1}" type="datetimeFigureOut">
              <a:rPr lang="en-GB" smtClean="0"/>
              <a:t>11/02/2022</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1136477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906FB86-B72F-4C48-BDBC-841F376783A1}" type="datetimeFigureOut">
              <a:rPr lang="en-GB" smtClean="0"/>
              <a:t>11/02/2022</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1157775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906FB86-B72F-4C48-BDBC-841F376783A1}" type="datetimeFigureOut">
              <a:rPr lang="en-GB" smtClean="0"/>
              <a:t>11/02/2022</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59A8234-D858-44FF-ACC9-F31FC53E845C}" type="slidenum">
              <a:rPr lang="en-GB" smtClean="0"/>
              <a:t>‹#›</a:t>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67399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8906FB86-B72F-4C48-BDBC-841F376783A1}" type="datetimeFigureOut">
              <a:rPr lang="en-GB" smtClean="0"/>
              <a:t>11/02/2022</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3523404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8906FB86-B72F-4C48-BDBC-841F376783A1}" type="datetimeFigureOut">
              <a:rPr lang="en-GB" smtClean="0"/>
              <a:t>11/02/2022</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59A8234-D858-44FF-ACC9-F31FC53E845C}" type="slidenum">
              <a:rPr lang="en-GB" smtClean="0"/>
              <a:t>‹#›</a:t>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33376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8906FB86-B72F-4C48-BDBC-841F376783A1}" type="datetimeFigureOut">
              <a:rPr lang="en-GB" smtClean="0"/>
              <a:t>11/02/2022</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57802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906FB86-B72F-4C48-BDBC-841F376783A1}" type="datetimeFigureOut">
              <a:rPr lang="en-GB" smtClean="0"/>
              <a:t>11/02/2022</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21242485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906FB86-B72F-4C48-BDBC-841F376783A1}" type="datetimeFigureOut">
              <a:rPr lang="en-GB" smtClean="0"/>
              <a:t>11/02/2022</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59A8234-D858-44FF-ACC9-F31FC53E845C}" type="slidenum">
              <a:rPr lang="en-GB" smtClean="0"/>
              <a:t>‹#›</a:t>
            </a:fld>
            <a:endParaRPr lang="en-GB"/>
          </a:p>
        </p:txBody>
      </p:sp>
    </p:spTree>
    <p:extLst>
      <p:ext uri="{BB962C8B-B14F-4D97-AF65-F5344CB8AC3E}">
        <p14:creationId xmlns:p14="http://schemas.microsoft.com/office/powerpoint/2010/main" val="2388821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906FB86-B72F-4C48-BDBC-841F376783A1}" type="datetimeFigureOut">
              <a:rPr lang="en-GB" smtClean="0"/>
              <a:t>11/02/2022</a:t>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59A8234-D858-44FF-ACC9-F31FC53E845C}" type="slidenum">
              <a:rPr lang="en-GB" smtClean="0"/>
              <a:t>‹#›</a:t>
            </a:fld>
            <a:endParaRPr lang="en-GB"/>
          </a:p>
        </p:txBody>
      </p:sp>
    </p:spTree>
    <p:extLst>
      <p:ext uri="{BB962C8B-B14F-4D97-AF65-F5344CB8AC3E}">
        <p14:creationId xmlns:p14="http://schemas.microsoft.com/office/powerpoint/2010/main" val="349419303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15237" y="5190186"/>
            <a:ext cx="8876763" cy="1497505"/>
          </a:xfrm>
        </p:spPr>
        <p:txBody>
          <a:bodyPr>
            <a:normAutofit fontScale="90000"/>
          </a:bodyPr>
          <a:lstStyle/>
          <a:p>
            <a:r>
              <a:rPr lang="en-GB" b="1" dirty="0"/>
              <a:t>Finance and Risk Analytics - Capstone </a:t>
            </a:r>
            <a:r>
              <a:rPr lang="en-GB" b="1" dirty="0" smtClean="0"/>
              <a:t>Project		BY – N V </a:t>
            </a:r>
            <a:r>
              <a:rPr lang="en-GB" b="1" dirty="0" err="1" smtClean="0"/>
              <a:t>V</a:t>
            </a:r>
            <a:r>
              <a:rPr lang="en-GB" b="1" dirty="0" smtClean="0"/>
              <a:t> Krishna </a:t>
            </a:r>
            <a:r>
              <a:rPr lang="en-GB" b="1" dirty="0" err="1" smtClean="0"/>
              <a:t>Priya</a:t>
            </a:r>
            <a:r>
              <a:rPr lang="en-GB" b="1" dirty="0"/>
              <a:t/>
            </a:r>
            <a:br>
              <a:rPr lang="en-GB" b="1" dirty="0"/>
            </a:br>
            <a:endParaRPr lang="en-GB" dirty="0"/>
          </a:p>
        </p:txBody>
      </p:sp>
      <p:pic>
        <p:nvPicPr>
          <p:cNvPr id="6" name="Content Placeholder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221" r="221"/>
          <a:stretch/>
        </p:blipFill>
        <p:spPr>
          <a:xfrm>
            <a:off x="0" y="1"/>
            <a:ext cx="7329173" cy="5190185"/>
          </a:xfrm>
        </p:spPr>
      </p:pic>
    </p:spTree>
    <p:extLst>
      <p:ext uri="{BB962C8B-B14F-4D97-AF65-F5344CB8AC3E}">
        <p14:creationId xmlns:p14="http://schemas.microsoft.com/office/powerpoint/2010/main" val="1049738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7010" y="315017"/>
            <a:ext cx="8911687" cy="1280890"/>
          </a:xfrm>
        </p:spPr>
        <p:txBody>
          <a:bodyPr/>
          <a:lstStyle/>
          <a:p>
            <a:r>
              <a:rPr lang="en-US" dirty="0" smtClean="0"/>
              <a:t>Problem statement</a:t>
            </a:r>
            <a:endParaRPr lang="en-GB" dirty="0"/>
          </a:p>
        </p:txBody>
      </p:sp>
      <p:sp>
        <p:nvSpPr>
          <p:cNvPr id="3" name="Content Placeholder 2"/>
          <p:cNvSpPr>
            <a:spLocks noGrp="1"/>
          </p:cNvSpPr>
          <p:nvPr>
            <p:ph idx="1"/>
          </p:nvPr>
        </p:nvSpPr>
        <p:spPr>
          <a:xfrm>
            <a:off x="1627010" y="1390917"/>
            <a:ext cx="8915400" cy="4752305"/>
          </a:xfrm>
        </p:spPr>
        <p:txBody>
          <a:bodyPr>
            <a:normAutofit fontScale="92500" lnSpcReduction="20000"/>
          </a:bodyPr>
          <a:lstStyle/>
          <a:p>
            <a:r>
              <a:rPr lang="en-GB" dirty="0"/>
              <a:t>In the recent past, the industry of wealth management has seen a lot of growth. Every individual or business actively searches for opportunities to get the maximum returns. However, in most of the cases, they either lack the skills to identify the right investment opportunity, or there is a shortage of time for finding these opportunities. Hence, this gave rise to the dedicated individuals who perform this task on behalf of the investors for a commission - Portfolio managers.</a:t>
            </a:r>
          </a:p>
          <a:p>
            <a:r>
              <a:rPr lang="en-GB" dirty="0"/>
              <a:t>A portfolio manager makes investment decisions and carries out other related activities on behalf of vested investors. They work with a team of analysts and researchers, and their main objective is to realise the needs of the investor and suggest a suitable portfolio that meets all the expectations. They are responsible for establishing the best investment strategy, selecting appropriate investments along with the right allocation. However, in doing so, they face a lot of competition in the form of other portfolio managers and rival firms. Therefore, the portfolio manager has to use the available resources to provide the best solution to the investor.</a:t>
            </a:r>
          </a:p>
          <a:p>
            <a:r>
              <a:rPr lang="en-GB" dirty="0"/>
              <a:t>Consider yourself working for an associate at an investment firm that manages accounts for private clients. Your role requires you to analyse a portfolio of stocks to provide consultation on investment management based on client’s requirement.</a:t>
            </a:r>
          </a:p>
          <a:p>
            <a:endParaRPr lang="en-GB" dirty="0"/>
          </a:p>
        </p:txBody>
      </p:sp>
    </p:spTree>
    <p:extLst>
      <p:ext uri="{BB962C8B-B14F-4D97-AF65-F5344CB8AC3E}">
        <p14:creationId xmlns:p14="http://schemas.microsoft.com/office/powerpoint/2010/main" val="2692988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52767" y="327895"/>
            <a:ext cx="8911687" cy="1280890"/>
          </a:xfrm>
        </p:spPr>
        <p:txBody>
          <a:bodyPr/>
          <a:lstStyle/>
          <a:p>
            <a:r>
              <a:rPr lang="en-US" dirty="0" smtClean="0"/>
              <a:t>Executive Summary</a:t>
            </a:r>
            <a:endParaRPr lang="en-GB" dirty="0"/>
          </a:p>
        </p:txBody>
      </p:sp>
      <p:sp>
        <p:nvSpPr>
          <p:cNvPr id="4" name="Content Placeholder 3"/>
          <p:cNvSpPr>
            <a:spLocks noGrp="1"/>
          </p:cNvSpPr>
          <p:nvPr>
            <p:ph idx="1"/>
          </p:nvPr>
        </p:nvSpPr>
        <p:spPr>
          <a:xfrm>
            <a:off x="1649054" y="1608785"/>
            <a:ext cx="3502495" cy="4263981"/>
          </a:xfrm>
        </p:spPr>
        <p:txBody>
          <a:bodyPr>
            <a:normAutofit/>
          </a:bodyPr>
          <a:lstStyle/>
          <a:p>
            <a:pPr>
              <a:lnSpc>
                <a:spcPct val="150000"/>
              </a:lnSpc>
            </a:pPr>
            <a:r>
              <a:rPr lang="en-US" dirty="0" smtClean="0"/>
              <a:t>The aim of this project is to select suitable stocks which suit their </a:t>
            </a:r>
            <a:r>
              <a:rPr lang="en-GB" dirty="0"/>
              <a:t> investor </a:t>
            </a:r>
            <a:r>
              <a:rPr lang="en-GB" dirty="0" smtClean="0"/>
              <a:t>persona.</a:t>
            </a:r>
          </a:p>
          <a:p>
            <a:pPr>
              <a:lnSpc>
                <a:spcPct val="150000"/>
              </a:lnSpc>
            </a:pPr>
            <a:r>
              <a:rPr lang="en-US" dirty="0" smtClean="0"/>
              <a:t>We are given a total number of 24 stocks, from which few stocks are selecting to fulfill their individual demands.</a:t>
            </a:r>
            <a:endParaRPr lang="en-GB" dirty="0"/>
          </a:p>
        </p:txBody>
      </p:sp>
      <p:pic>
        <p:nvPicPr>
          <p:cNvPr id="5" name="Picture 4"/>
          <p:cNvPicPr>
            <a:picLocks noChangeAspect="1"/>
          </p:cNvPicPr>
          <p:nvPr/>
        </p:nvPicPr>
        <p:blipFill>
          <a:blip r:embed="rId2"/>
          <a:stretch>
            <a:fillRect/>
          </a:stretch>
        </p:blipFill>
        <p:spPr>
          <a:xfrm>
            <a:off x="5068110" y="1783775"/>
            <a:ext cx="7123890" cy="3638231"/>
          </a:xfrm>
          <a:prstGeom prst="rect">
            <a:avLst/>
          </a:prstGeom>
        </p:spPr>
      </p:pic>
    </p:spTree>
    <p:extLst>
      <p:ext uri="{BB962C8B-B14F-4D97-AF65-F5344CB8AC3E}">
        <p14:creationId xmlns:p14="http://schemas.microsoft.com/office/powerpoint/2010/main" val="1891355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5271" y="372318"/>
            <a:ext cx="8911687" cy="1280890"/>
          </a:xfrm>
        </p:spPr>
        <p:txBody>
          <a:bodyPr/>
          <a:lstStyle/>
          <a:p>
            <a:r>
              <a:rPr lang="en-US" dirty="0"/>
              <a:t>Stock</a:t>
            </a:r>
            <a:r>
              <a:rPr lang="en-US" b="1" dirty="0">
                <a:solidFill>
                  <a:srgbClr val="000000"/>
                </a:solidFill>
                <a:latin typeface="Helvetica Neue"/>
              </a:rPr>
              <a:t> </a:t>
            </a:r>
            <a:r>
              <a:rPr lang="en-US" dirty="0"/>
              <a:t>selection and allocation</a:t>
            </a:r>
            <a:endParaRPr lang="en-GB" dirty="0"/>
          </a:p>
        </p:txBody>
      </p:sp>
      <p:sp>
        <p:nvSpPr>
          <p:cNvPr id="8" name="Content Placeholder 7"/>
          <p:cNvSpPr>
            <a:spLocks noGrp="1"/>
          </p:cNvSpPr>
          <p:nvPr>
            <p:ph sz="quarter" idx="4"/>
          </p:nvPr>
        </p:nvSpPr>
        <p:spPr>
          <a:xfrm>
            <a:off x="1665271" y="1653208"/>
            <a:ext cx="10076155" cy="4835723"/>
          </a:xfrm>
        </p:spPr>
        <p:txBody>
          <a:bodyPr>
            <a:normAutofit fontScale="40000" lnSpcReduction="20000"/>
          </a:bodyPr>
          <a:lstStyle/>
          <a:p>
            <a:pPr lvl="0">
              <a:lnSpc>
                <a:spcPct val="170000"/>
              </a:lnSpc>
            </a:pPr>
            <a:r>
              <a:rPr lang="en-US" sz="4200" dirty="0">
                <a:solidFill>
                  <a:schemeClr val="tx1">
                    <a:lumMod val="85000"/>
                    <a:lumOff val="15000"/>
                  </a:schemeClr>
                </a:solidFill>
                <a:latin typeface="+mj-lt"/>
                <a:ea typeface="+mj-ea"/>
                <a:cs typeface="+mj-cs"/>
              </a:rPr>
              <a:t>Based on Cumulative Return (%), </a:t>
            </a:r>
            <a:r>
              <a:rPr lang="en-US" sz="4200" dirty="0" smtClean="0">
                <a:solidFill>
                  <a:schemeClr val="tx1">
                    <a:lumMod val="85000"/>
                    <a:lumOff val="15000"/>
                  </a:schemeClr>
                </a:solidFill>
                <a:latin typeface="+mj-lt"/>
                <a:ea typeface="+mj-ea"/>
                <a:cs typeface="+mj-cs"/>
              </a:rPr>
              <a:t>annual risk </a:t>
            </a:r>
            <a:r>
              <a:rPr lang="en-US" sz="4200" dirty="0">
                <a:solidFill>
                  <a:schemeClr val="tx1">
                    <a:lumMod val="85000"/>
                    <a:lumOff val="15000"/>
                  </a:schemeClr>
                </a:solidFill>
                <a:latin typeface="+mj-lt"/>
                <a:ea typeface="+mj-ea"/>
                <a:cs typeface="+mj-cs"/>
              </a:rPr>
              <a:t>(%), Sharpe Ratio, we will recommend the following stocks to the investors to generate better returns than the index, but also ensure that these stocks are relatively suitable for the investors. These </a:t>
            </a:r>
            <a:r>
              <a:rPr lang="en-US" sz="4200" dirty="0" smtClean="0">
                <a:solidFill>
                  <a:schemeClr val="tx1">
                    <a:lumMod val="85000"/>
                    <a:lumOff val="15000"/>
                  </a:schemeClr>
                </a:solidFill>
                <a:latin typeface="+mj-lt"/>
                <a:ea typeface="+mj-ea"/>
                <a:cs typeface="+mj-cs"/>
              </a:rPr>
              <a:t>include:</a:t>
            </a:r>
          </a:p>
          <a:p>
            <a:pPr lvl="0">
              <a:lnSpc>
                <a:spcPct val="170000"/>
              </a:lnSpc>
            </a:pPr>
            <a:r>
              <a:rPr lang="en-US" sz="4200" dirty="0" err="1" smtClean="0">
                <a:solidFill>
                  <a:schemeClr val="tx1">
                    <a:lumMod val="85000"/>
                    <a:lumOff val="15000"/>
                  </a:schemeClr>
                </a:solidFill>
                <a:latin typeface="+mj-lt"/>
                <a:ea typeface="+mj-ea"/>
                <a:cs typeface="+mj-cs"/>
              </a:rPr>
              <a:t>Mr</a:t>
            </a:r>
            <a:r>
              <a:rPr lang="en-US" sz="4200" dirty="0" smtClean="0">
                <a:solidFill>
                  <a:schemeClr val="tx1">
                    <a:lumMod val="85000"/>
                    <a:lumOff val="15000"/>
                  </a:schemeClr>
                </a:solidFill>
                <a:latin typeface="+mj-lt"/>
                <a:ea typeface="+mj-ea"/>
                <a:cs typeface="+mj-cs"/>
              </a:rPr>
              <a:t> </a:t>
            </a:r>
            <a:r>
              <a:rPr lang="en-US" sz="4200" dirty="0">
                <a:solidFill>
                  <a:schemeClr val="tx1">
                    <a:lumMod val="85000"/>
                    <a:lumOff val="15000"/>
                  </a:schemeClr>
                </a:solidFill>
                <a:latin typeface="+mj-lt"/>
                <a:ea typeface="+mj-ea"/>
                <a:cs typeface="+mj-cs"/>
              </a:rPr>
              <a:t>Patrick </a:t>
            </a:r>
            <a:r>
              <a:rPr lang="en-US" sz="4200" dirty="0" err="1">
                <a:solidFill>
                  <a:schemeClr val="tx1">
                    <a:lumMod val="85000"/>
                    <a:lumOff val="15000"/>
                  </a:schemeClr>
                </a:solidFill>
                <a:latin typeface="+mj-lt"/>
                <a:ea typeface="+mj-ea"/>
                <a:cs typeface="+mj-cs"/>
              </a:rPr>
              <a:t>Jyenger</a:t>
            </a:r>
            <a:r>
              <a:rPr lang="en-US" sz="4200" dirty="0">
                <a:solidFill>
                  <a:schemeClr val="tx1">
                    <a:lumMod val="85000"/>
                    <a:lumOff val="15000"/>
                  </a:schemeClr>
                </a:solidFill>
                <a:latin typeface="+mj-lt"/>
                <a:ea typeface="+mj-ea"/>
                <a:cs typeface="+mj-cs"/>
              </a:rPr>
              <a:t> wants to maintain a decent standard of living post his </a:t>
            </a:r>
            <a:r>
              <a:rPr lang="en-US" sz="4200" dirty="0" smtClean="0">
                <a:solidFill>
                  <a:schemeClr val="tx1">
                    <a:lumMod val="85000"/>
                    <a:lumOff val="15000"/>
                  </a:schemeClr>
                </a:solidFill>
                <a:latin typeface="+mj-lt"/>
                <a:ea typeface="+mj-ea"/>
                <a:cs typeface="+mj-cs"/>
              </a:rPr>
              <a:t>retirement and expects </a:t>
            </a:r>
            <a:r>
              <a:rPr lang="en-US" sz="4200" dirty="0">
                <a:solidFill>
                  <a:schemeClr val="tx1">
                    <a:lumMod val="85000"/>
                    <a:lumOff val="15000"/>
                  </a:schemeClr>
                </a:solidFill>
                <a:latin typeface="+mj-lt"/>
                <a:ea typeface="+mj-ea"/>
                <a:cs typeface="+mj-cs"/>
              </a:rPr>
              <a:t>doubling his capital with less risk in 5 years' </a:t>
            </a:r>
            <a:r>
              <a:rPr lang="en-US" sz="4200" dirty="0" smtClean="0">
                <a:solidFill>
                  <a:schemeClr val="tx1">
                    <a:lumMod val="85000"/>
                    <a:lumOff val="15000"/>
                  </a:schemeClr>
                </a:solidFill>
                <a:latin typeface="+mj-lt"/>
                <a:ea typeface="+mj-ea"/>
                <a:cs typeface="+mj-cs"/>
              </a:rPr>
              <a:t>time.</a:t>
            </a:r>
          </a:p>
          <a:p>
            <a:pPr lvl="0">
              <a:lnSpc>
                <a:spcPct val="170000"/>
              </a:lnSpc>
            </a:pPr>
            <a:r>
              <a:rPr lang="en-US" sz="4200" dirty="0" err="1" smtClean="0">
                <a:solidFill>
                  <a:schemeClr val="tx1">
                    <a:lumMod val="85000"/>
                    <a:lumOff val="15000"/>
                  </a:schemeClr>
                </a:solidFill>
                <a:latin typeface="+mj-lt"/>
                <a:ea typeface="+mj-ea"/>
                <a:cs typeface="+mj-cs"/>
              </a:rPr>
              <a:t>Mr</a:t>
            </a:r>
            <a:r>
              <a:rPr lang="en-US" sz="4200" dirty="0" smtClean="0">
                <a:solidFill>
                  <a:schemeClr val="tx1">
                    <a:lumMod val="85000"/>
                    <a:lumOff val="15000"/>
                  </a:schemeClr>
                </a:solidFill>
                <a:latin typeface="+mj-lt"/>
                <a:ea typeface="+mj-ea"/>
                <a:cs typeface="+mj-cs"/>
              </a:rPr>
              <a:t> </a:t>
            </a:r>
            <a:r>
              <a:rPr lang="en-US" sz="4200" dirty="0">
                <a:solidFill>
                  <a:schemeClr val="tx1">
                    <a:lumMod val="85000"/>
                    <a:lumOff val="15000"/>
                  </a:schemeClr>
                </a:solidFill>
                <a:latin typeface="+mj-lt"/>
                <a:ea typeface="+mj-ea"/>
                <a:cs typeface="+mj-cs"/>
              </a:rPr>
              <a:t>Peter </a:t>
            </a:r>
            <a:r>
              <a:rPr lang="en-US" sz="4200" dirty="0" err="1">
                <a:solidFill>
                  <a:schemeClr val="tx1">
                    <a:lumMod val="85000"/>
                    <a:lumOff val="15000"/>
                  </a:schemeClr>
                </a:solidFill>
                <a:latin typeface="+mj-lt"/>
                <a:ea typeface="+mj-ea"/>
                <a:cs typeface="+mj-cs"/>
              </a:rPr>
              <a:t>Jyenger</a:t>
            </a:r>
            <a:r>
              <a:rPr lang="en-US" sz="4200" dirty="0">
                <a:solidFill>
                  <a:schemeClr val="tx1">
                    <a:lumMod val="85000"/>
                    <a:lumOff val="15000"/>
                  </a:schemeClr>
                </a:solidFill>
                <a:latin typeface="+mj-lt"/>
                <a:ea typeface="+mj-ea"/>
                <a:cs typeface="+mj-cs"/>
              </a:rPr>
              <a:t> is consistent with his attitude towards risk, he prefers high return investments. He wants to invest $1 million from company's cash and cash equivalents in the most high margin stocks. Expects high returns within 5 years.</a:t>
            </a:r>
          </a:p>
          <a:p>
            <a:endParaRPr lang="en-GB" dirty="0"/>
          </a:p>
        </p:txBody>
      </p:sp>
    </p:spTree>
    <p:extLst>
      <p:ext uri="{BB962C8B-B14F-4D97-AF65-F5344CB8AC3E}">
        <p14:creationId xmlns:p14="http://schemas.microsoft.com/office/powerpoint/2010/main" val="3896166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627008" y="353654"/>
            <a:ext cx="8911687" cy="1280890"/>
          </a:xfrm>
        </p:spPr>
        <p:txBody>
          <a:bodyPr/>
          <a:lstStyle/>
          <a:p>
            <a:r>
              <a:rPr lang="en-US" dirty="0" smtClean="0"/>
              <a:t>Portfolio Description</a:t>
            </a:r>
            <a:endParaRPr lang="en-GB" dirty="0"/>
          </a:p>
        </p:txBody>
      </p:sp>
      <p:sp>
        <p:nvSpPr>
          <p:cNvPr id="6" name="Text Placeholder 5"/>
          <p:cNvSpPr>
            <a:spLocks noGrp="1"/>
          </p:cNvSpPr>
          <p:nvPr>
            <p:ph type="body" idx="1"/>
          </p:nvPr>
        </p:nvSpPr>
        <p:spPr>
          <a:xfrm>
            <a:off x="1627008" y="1905000"/>
            <a:ext cx="3992732" cy="576262"/>
          </a:xfrm>
        </p:spPr>
        <p:txBody>
          <a:bodyPr/>
          <a:lstStyle/>
          <a:p>
            <a:pPr lvl="0"/>
            <a:r>
              <a:rPr lang="en-US" dirty="0">
                <a:solidFill>
                  <a:schemeClr val="tx1">
                    <a:lumMod val="85000"/>
                    <a:lumOff val="15000"/>
                  </a:schemeClr>
                </a:solidFill>
              </a:rPr>
              <a:t>Portfolio for </a:t>
            </a:r>
            <a:r>
              <a:rPr lang="en-US" dirty="0" err="1">
                <a:solidFill>
                  <a:schemeClr val="tx1">
                    <a:lumMod val="85000"/>
                    <a:lumOff val="15000"/>
                  </a:schemeClr>
                </a:solidFill>
              </a:rPr>
              <a:t>Mr</a:t>
            </a:r>
            <a:r>
              <a:rPr lang="en-US" dirty="0">
                <a:solidFill>
                  <a:schemeClr val="tx1">
                    <a:lumMod val="85000"/>
                    <a:lumOff val="15000"/>
                  </a:schemeClr>
                </a:solidFill>
              </a:rPr>
              <a:t> Patrick </a:t>
            </a:r>
            <a:r>
              <a:rPr lang="en-US" dirty="0" err="1">
                <a:solidFill>
                  <a:schemeClr val="tx1">
                    <a:lumMod val="85000"/>
                    <a:lumOff val="15000"/>
                  </a:schemeClr>
                </a:solidFill>
              </a:rPr>
              <a:t>Jyenger</a:t>
            </a:r>
            <a:r>
              <a:rPr lang="en-US" dirty="0" smtClean="0">
                <a:solidFill>
                  <a:schemeClr val="tx1">
                    <a:lumMod val="85000"/>
                    <a:lumOff val="15000"/>
                  </a:schemeClr>
                </a:solidFill>
              </a:rPr>
              <a:t>:</a:t>
            </a:r>
            <a:endParaRPr lang="en-US" dirty="0">
              <a:solidFill>
                <a:schemeClr val="tx1">
                  <a:lumMod val="85000"/>
                  <a:lumOff val="15000"/>
                </a:schemeClr>
              </a:solidFill>
            </a:endParaRPr>
          </a:p>
        </p:txBody>
      </p:sp>
      <p:sp>
        <p:nvSpPr>
          <p:cNvPr id="7" name="Content Placeholder 6"/>
          <p:cNvSpPr>
            <a:spLocks noGrp="1"/>
          </p:cNvSpPr>
          <p:nvPr>
            <p:ph sz="half" idx="2"/>
          </p:nvPr>
        </p:nvSpPr>
        <p:spPr>
          <a:xfrm>
            <a:off x="1739958" y="2721680"/>
            <a:ext cx="4351749" cy="3820787"/>
          </a:xfrm>
        </p:spPr>
        <p:txBody>
          <a:bodyPr>
            <a:normAutofit fontScale="77500" lnSpcReduction="20000"/>
          </a:bodyPr>
          <a:lstStyle/>
          <a:p>
            <a:pPr marL="0" lvl="0" indent="0" defTabSz="914400" eaLnBrk="0" fontAlgn="base" hangingPunct="0">
              <a:lnSpc>
                <a:spcPct val="160000"/>
              </a:lnSpc>
              <a:spcBef>
                <a:spcPct val="0"/>
              </a:spcBef>
              <a:spcAft>
                <a:spcPct val="0"/>
              </a:spcAft>
              <a:buClrTx/>
              <a:buNone/>
            </a:pPr>
            <a:r>
              <a:rPr lang="en-US" dirty="0">
                <a:solidFill>
                  <a:schemeClr val="tx1">
                    <a:lumMod val="85000"/>
                    <a:lumOff val="15000"/>
                  </a:schemeClr>
                </a:solidFill>
              </a:rPr>
              <a:t>So, according to his investor persona, the below stocks with </a:t>
            </a:r>
            <a:r>
              <a:rPr lang="en-US" dirty="0" smtClean="0">
                <a:solidFill>
                  <a:schemeClr val="tx1">
                    <a:lumMod val="85000"/>
                    <a:lumOff val="15000"/>
                  </a:schemeClr>
                </a:solidFill>
              </a:rPr>
              <a:t>comparatively </a:t>
            </a:r>
            <a:r>
              <a:rPr lang="en-US" dirty="0">
                <a:solidFill>
                  <a:schemeClr val="tx1">
                    <a:lumMod val="85000"/>
                    <a:lumOff val="15000"/>
                  </a:schemeClr>
                </a:solidFill>
              </a:rPr>
              <a:t>less risk would be a good pick which would be doubling his capital in 5 years' time.</a:t>
            </a:r>
          </a:p>
          <a:p>
            <a:pPr marL="0" lvl="0" indent="0" defTabSz="914400" eaLnBrk="0" fontAlgn="base" hangingPunct="0">
              <a:lnSpc>
                <a:spcPct val="160000"/>
              </a:lnSpc>
              <a:spcBef>
                <a:spcPct val="0"/>
              </a:spcBef>
              <a:spcAft>
                <a:spcPct val="0"/>
              </a:spcAft>
              <a:buClrTx/>
              <a:buNone/>
            </a:pPr>
            <a:r>
              <a:rPr lang="en-US" dirty="0">
                <a:solidFill>
                  <a:schemeClr val="tx1">
                    <a:lumMod val="85000"/>
                    <a:lumOff val="15000"/>
                  </a:schemeClr>
                </a:solidFill>
              </a:rPr>
              <a:t>A&gt; Tech Stocks (Safer sector bet - This segment is very innovative, tech savvy and focusses a lot on automation. Also, very futuristic):</a:t>
            </a:r>
          </a:p>
          <a:p>
            <a:pPr marL="0" lvl="0" indent="0" defTabSz="914400" eaLnBrk="0" fontAlgn="base" hangingPunct="0">
              <a:lnSpc>
                <a:spcPct val="160000"/>
              </a:lnSpc>
              <a:spcBef>
                <a:spcPct val="0"/>
              </a:spcBef>
              <a:spcAft>
                <a:spcPct val="0"/>
              </a:spcAft>
              <a:buClrTx/>
              <a:buFontTx/>
              <a:buAutoNum type="arabicPeriod"/>
            </a:pPr>
            <a:r>
              <a:rPr lang="en-US" dirty="0">
                <a:solidFill>
                  <a:schemeClr val="tx1">
                    <a:lumMod val="85000"/>
                    <a:lumOff val="15000"/>
                  </a:schemeClr>
                </a:solidFill>
              </a:rPr>
              <a:t>Google (50% allocation)</a:t>
            </a:r>
          </a:p>
          <a:p>
            <a:pPr marL="0" lvl="0" indent="0" defTabSz="914400" eaLnBrk="0" fontAlgn="base" hangingPunct="0">
              <a:lnSpc>
                <a:spcPct val="160000"/>
              </a:lnSpc>
              <a:spcBef>
                <a:spcPct val="0"/>
              </a:spcBef>
              <a:spcAft>
                <a:spcPct val="0"/>
              </a:spcAft>
              <a:buClrTx/>
              <a:buNone/>
            </a:pPr>
            <a:r>
              <a:rPr lang="en-US" dirty="0">
                <a:solidFill>
                  <a:schemeClr val="tx1">
                    <a:lumMod val="85000"/>
                    <a:lumOff val="15000"/>
                  </a:schemeClr>
                </a:solidFill>
              </a:rPr>
              <a:t>B&gt; Pharma (Defensive or very safe sector - There is also constant demand for health care)</a:t>
            </a:r>
          </a:p>
          <a:p>
            <a:pPr marL="0" lvl="0" indent="0" defTabSz="914400" eaLnBrk="0" fontAlgn="base" hangingPunct="0">
              <a:lnSpc>
                <a:spcPct val="160000"/>
              </a:lnSpc>
              <a:spcBef>
                <a:spcPct val="0"/>
              </a:spcBef>
              <a:spcAft>
                <a:spcPct val="0"/>
              </a:spcAft>
              <a:buClrTx/>
              <a:buFontTx/>
              <a:buAutoNum type="arabicPeriod"/>
            </a:pPr>
            <a:r>
              <a:rPr lang="en-US" dirty="0">
                <a:solidFill>
                  <a:schemeClr val="tx1">
                    <a:lumMod val="85000"/>
                    <a:lumOff val="15000"/>
                  </a:schemeClr>
                </a:solidFill>
              </a:rPr>
              <a:t>Johnson and Johnson (50% allocation)</a:t>
            </a:r>
          </a:p>
          <a:p>
            <a:endParaRPr lang="en-GB" dirty="0"/>
          </a:p>
        </p:txBody>
      </p:sp>
      <p:sp>
        <p:nvSpPr>
          <p:cNvPr id="8" name="Text Placeholder 7"/>
          <p:cNvSpPr>
            <a:spLocks noGrp="1"/>
          </p:cNvSpPr>
          <p:nvPr>
            <p:ph type="body" sz="quarter" idx="3"/>
          </p:nvPr>
        </p:nvSpPr>
        <p:spPr>
          <a:xfrm>
            <a:off x="6883622" y="1905000"/>
            <a:ext cx="3999001" cy="576262"/>
          </a:xfrm>
        </p:spPr>
        <p:txBody>
          <a:bodyPr/>
          <a:lstStyle/>
          <a:p>
            <a:pPr lvl="0"/>
            <a:r>
              <a:rPr lang="en-US" dirty="0">
                <a:solidFill>
                  <a:schemeClr val="tx1">
                    <a:lumMod val="85000"/>
                    <a:lumOff val="15000"/>
                  </a:schemeClr>
                </a:solidFill>
              </a:rPr>
              <a:t>Portfolio for </a:t>
            </a:r>
            <a:r>
              <a:rPr lang="en-US" dirty="0" err="1">
                <a:solidFill>
                  <a:schemeClr val="tx1">
                    <a:lumMod val="85000"/>
                    <a:lumOff val="15000"/>
                  </a:schemeClr>
                </a:solidFill>
              </a:rPr>
              <a:t>Mr</a:t>
            </a:r>
            <a:r>
              <a:rPr lang="en-US" dirty="0">
                <a:solidFill>
                  <a:schemeClr val="tx1">
                    <a:lumMod val="85000"/>
                    <a:lumOff val="15000"/>
                  </a:schemeClr>
                </a:solidFill>
              </a:rPr>
              <a:t> Peter </a:t>
            </a:r>
            <a:r>
              <a:rPr lang="en-US" dirty="0" err="1">
                <a:solidFill>
                  <a:schemeClr val="tx1">
                    <a:lumMod val="85000"/>
                    <a:lumOff val="15000"/>
                  </a:schemeClr>
                </a:solidFill>
              </a:rPr>
              <a:t>Jyenger</a:t>
            </a:r>
            <a:r>
              <a:rPr lang="en-US" dirty="0" smtClean="0">
                <a:solidFill>
                  <a:schemeClr val="tx1">
                    <a:lumMod val="85000"/>
                    <a:lumOff val="15000"/>
                  </a:schemeClr>
                </a:solidFill>
              </a:rPr>
              <a:t>:</a:t>
            </a:r>
            <a:endParaRPr lang="en-US" dirty="0">
              <a:solidFill>
                <a:schemeClr val="tx1">
                  <a:lumMod val="85000"/>
                  <a:lumOff val="15000"/>
                </a:schemeClr>
              </a:solidFill>
            </a:endParaRPr>
          </a:p>
        </p:txBody>
      </p:sp>
      <p:sp>
        <p:nvSpPr>
          <p:cNvPr id="9" name="Content Placeholder 8"/>
          <p:cNvSpPr>
            <a:spLocks noGrp="1"/>
          </p:cNvSpPr>
          <p:nvPr>
            <p:ph sz="quarter" idx="4"/>
          </p:nvPr>
        </p:nvSpPr>
        <p:spPr>
          <a:xfrm>
            <a:off x="6688027" y="2721681"/>
            <a:ext cx="4477956" cy="3820786"/>
          </a:xfrm>
        </p:spPr>
        <p:txBody>
          <a:bodyPr>
            <a:normAutofit/>
          </a:bodyPr>
          <a:lstStyle/>
          <a:p>
            <a:pPr marL="0" lvl="0" indent="0" defTabSz="914400" eaLnBrk="0" fontAlgn="base" hangingPunct="0">
              <a:lnSpc>
                <a:spcPct val="150000"/>
              </a:lnSpc>
              <a:spcBef>
                <a:spcPct val="0"/>
              </a:spcBef>
              <a:spcAft>
                <a:spcPct val="0"/>
              </a:spcAft>
              <a:buClrTx/>
              <a:buNone/>
            </a:pPr>
            <a:r>
              <a:rPr lang="en-US" sz="1500" dirty="0">
                <a:solidFill>
                  <a:schemeClr val="tx1">
                    <a:lumMod val="85000"/>
                    <a:lumOff val="15000"/>
                  </a:schemeClr>
                </a:solidFill>
              </a:rPr>
              <a:t>So, according to his investor persona, the below stock with </a:t>
            </a:r>
            <a:r>
              <a:rPr lang="en-US" sz="1500" dirty="0" smtClean="0">
                <a:solidFill>
                  <a:schemeClr val="tx1">
                    <a:lumMod val="85000"/>
                    <a:lumOff val="15000"/>
                  </a:schemeClr>
                </a:solidFill>
              </a:rPr>
              <a:t>comparatively </a:t>
            </a:r>
            <a:r>
              <a:rPr lang="en-US" sz="1500" dirty="0">
                <a:solidFill>
                  <a:schemeClr val="tx1">
                    <a:lumMod val="85000"/>
                    <a:lumOff val="15000"/>
                  </a:schemeClr>
                </a:solidFill>
              </a:rPr>
              <a:t>high margin would be a good pick which would be giving high returns on his capital in 5 years' time.</a:t>
            </a:r>
          </a:p>
          <a:p>
            <a:pPr marL="0" lvl="0" indent="0" defTabSz="914400" eaLnBrk="0" fontAlgn="base" hangingPunct="0">
              <a:lnSpc>
                <a:spcPct val="150000"/>
              </a:lnSpc>
              <a:spcBef>
                <a:spcPct val="0"/>
              </a:spcBef>
              <a:spcAft>
                <a:spcPct val="0"/>
              </a:spcAft>
              <a:buClrTx/>
              <a:buNone/>
            </a:pPr>
            <a:r>
              <a:rPr lang="en-US" sz="1500" dirty="0">
                <a:solidFill>
                  <a:schemeClr val="tx1">
                    <a:lumMod val="85000"/>
                    <a:lumOff val="15000"/>
                  </a:schemeClr>
                </a:solidFill>
              </a:rPr>
              <a:t>A&gt; Tech Stocks (Safer sector bet - This segment is very innovative, tech savvy and focusses a lot on automation. Also, very futuristic):</a:t>
            </a:r>
          </a:p>
          <a:p>
            <a:pPr marL="0" lvl="0" indent="0" defTabSz="914400" eaLnBrk="0" fontAlgn="base" hangingPunct="0">
              <a:lnSpc>
                <a:spcPct val="150000"/>
              </a:lnSpc>
              <a:spcBef>
                <a:spcPct val="0"/>
              </a:spcBef>
              <a:spcAft>
                <a:spcPct val="0"/>
              </a:spcAft>
              <a:buClrTx/>
              <a:buFontTx/>
              <a:buAutoNum type="arabicPeriod"/>
            </a:pPr>
            <a:r>
              <a:rPr lang="en-US" sz="1500" dirty="0">
                <a:solidFill>
                  <a:schemeClr val="tx1">
                    <a:lumMod val="85000"/>
                    <a:lumOff val="15000"/>
                  </a:schemeClr>
                </a:solidFill>
              </a:rPr>
              <a:t>Amazon (100% allocation)</a:t>
            </a:r>
          </a:p>
          <a:p>
            <a:endParaRPr lang="en-GB" dirty="0"/>
          </a:p>
        </p:txBody>
      </p:sp>
    </p:spTree>
    <p:extLst>
      <p:ext uri="{BB962C8B-B14F-4D97-AF65-F5344CB8AC3E}">
        <p14:creationId xmlns:p14="http://schemas.microsoft.com/office/powerpoint/2010/main" val="234365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41172" y="296293"/>
            <a:ext cx="3505199" cy="976312"/>
          </a:xfrm>
        </p:spPr>
        <p:txBody>
          <a:bodyPr>
            <a:normAutofit/>
          </a:bodyPr>
          <a:lstStyle/>
          <a:p>
            <a:r>
              <a:rPr lang="en-US" dirty="0" smtClean="0"/>
              <a:t>Stock visualization with and without normalization</a:t>
            </a:r>
            <a:endParaRPr lang="en-GB" dirty="0"/>
          </a:p>
        </p:txBody>
      </p:sp>
      <p:pic>
        <p:nvPicPr>
          <p:cNvPr id="7" name="Content Placeholder 6"/>
          <p:cNvPicPr>
            <a:picLocks noGrp="1" noChangeAspect="1"/>
          </p:cNvPicPr>
          <p:nvPr>
            <p:ph idx="1"/>
          </p:nvPr>
        </p:nvPicPr>
        <p:blipFill>
          <a:blip r:embed="rId2"/>
          <a:stretch>
            <a:fillRect/>
          </a:stretch>
        </p:blipFill>
        <p:spPr>
          <a:xfrm>
            <a:off x="5331854" y="0"/>
            <a:ext cx="6860146" cy="3870643"/>
          </a:xfrm>
          <a:prstGeom prst="rect">
            <a:avLst/>
          </a:prstGeom>
        </p:spPr>
      </p:pic>
      <p:sp>
        <p:nvSpPr>
          <p:cNvPr id="6" name="Text Placeholder 5"/>
          <p:cNvSpPr>
            <a:spLocks noGrp="1"/>
          </p:cNvSpPr>
          <p:nvPr>
            <p:ph type="body" sz="half" idx="2"/>
          </p:nvPr>
        </p:nvSpPr>
        <p:spPr>
          <a:xfrm>
            <a:off x="1541172" y="1572855"/>
            <a:ext cx="3505199" cy="4262436"/>
          </a:xfrm>
        </p:spPr>
        <p:txBody>
          <a:bodyPr/>
          <a:lstStyle/>
          <a:p>
            <a:pPr marL="285750" indent="-285750">
              <a:lnSpc>
                <a:spcPct val="150000"/>
              </a:lnSpc>
              <a:buFont typeface="Arial" panose="020B0604020202020204" pitchFamily="34" charset="0"/>
              <a:buChar char="•"/>
            </a:pPr>
            <a:r>
              <a:rPr lang="en-US" dirty="0" smtClean="0"/>
              <a:t>We can see that from the stock visualization without normalization only Amazon and Google seem to be in the bullish trend.</a:t>
            </a:r>
          </a:p>
          <a:p>
            <a:pPr marL="285750" indent="-285750">
              <a:lnSpc>
                <a:spcPct val="150000"/>
              </a:lnSpc>
              <a:buFont typeface="Arial" panose="020B0604020202020204" pitchFamily="34" charset="0"/>
              <a:buChar char="•"/>
            </a:pPr>
            <a:r>
              <a:rPr lang="en-US" dirty="0" smtClean="0"/>
              <a:t>After normalization we can see that Microsoft has taken the place of Google with Amazon and Microsoft in the leading trend.</a:t>
            </a:r>
          </a:p>
          <a:p>
            <a:pPr marL="285750" indent="-285750">
              <a:buFont typeface="Arial" panose="020B0604020202020204" pitchFamily="34" charset="0"/>
              <a:buChar char="•"/>
            </a:pPr>
            <a:endParaRPr lang="en-GB" dirty="0"/>
          </a:p>
        </p:txBody>
      </p:sp>
      <p:pic>
        <p:nvPicPr>
          <p:cNvPr id="5" name="Content Placeholder 6"/>
          <p:cNvPicPr>
            <a:picLocks noChangeAspect="1"/>
          </p:cNvPicPr>
          <p:nvPr/>
        </p:nvPicPr>
        <p:blipFill>
          <a:blip r:embed="rId3"/>
          <a:stretch>
            <a:fillRect/>
          </a:stretch>
        </p:blipFill>
        <p:spPr>
          <a:xfrm>
            <a:off x="5331854" y="3696236"/>
            <a:ext cx="6860146" cy="3161763"/>
          </a:xfrm>
          <a:prstGeom prst="rect">
            <a:avLst/>
          </a:prstGeom>
        </p:spPr>
      </p:pic>
    </p:spTree>
    <p:extLst>
      <p:ext uri="{BB962C8B-B14F-4D97-AF65-F5344CB8AC3E}">
        <p14:creationId xmlns:p14="http://schemas.microsoft.com/office/powerpoint/2010/main" val="2983214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10417" y="420331"/>
            <a:ext cx="3505199" cy="976312"/>
          </a:xfrm>
        </p:spPr>
        <p:txBody>
          <a:bodyPr/>
          <a:lstStyle/>
          <a:p>
            <a:r>
              <a:rPr lang="en-US" dirty="0" smtClean="0"/>
              <a:t>Relative strength analysis</a:t>
            </a:r>
            <a:endParaRPr lang="en-GB" dirty="0"/>
          </a:p>
        </p:txBody>
      </p:sp>
      <p:pic>
        <p:nvPicPr>
          <p:cNvPr id="7" name="Content Placeholder 6"/>
          <p:cNvPicPr>
            <a:picLocks noGrp="1" noChangeAspect="1"/>
          </p:cNvPicPr>
          <p:nvPr>
            <p:ph idx="1"/>
          </p:nvPr>
        </p:nvPicPr>
        <p:blipFill>
          <a:blip r:embed="rId2"/>
          <a:stretch>
            <a:fillRect/>
          </a:stretch>
        </p:blipFill>
        <p:spPr>
          <a:xfrm>
            <a:off x="5145638" y="908487"/>
            <a:ext cx="7046362" cy="4397609"/>
          </a:xfrm>
          <a:prstGeom prst="rect">
            <a:avLst/>
          </a:prstGeom>
        </p:spPr>
      </p:pic>
      <p:sp>
        <p:nvSpPr>
          <p:cNvPr id="6" name="Text Placeholder 5"/>
          <p:cNvSpPr>
            <a:spLocks noGrp="1"/>
          </p:cNvSpPr>
          <p:nvPr>
            <p:ph type="body" sz="half" idx="2"/>
          </p:nvPr>
        </p:nvSpPr>
        <p:spPr>
          <a:xfrm>
            <a:off x="1610417" y="1536660"/>
            <a:ext cx="3505199" cy="4262436"/>
          </a:xfrm>
        </p:spPr>
        <p:txBody>
          <a:bodyPr/>
          <a:lstStyle/>
          <a:p>
            <a:pPr marL="285750" indent="-285750">
              <a:lnSpc>
                <a:spcPct val="150000"/>
              </a:lnSpc>
              <a:buFont typeface="Arial" panose="020B0604020202020204" pitchFamily="34" charset="0"/>
              <a:buChar char="•"/>
            </a:pPr>
            <a:r>
              <a:rPr lang="en-GB" dirty="0"/>
              <a:t>Relative strength is a strategy used in momentum investing and in identifying value stocks. It focuses on investing in stocks or other investments that have performed well relative to the market as a whole or to </a:t>
            </a:r>
            <a:r>
              <a:rPr lang="en-GB" dirty="0" smtClean="0"/>
              <a:t>a </a:t>
            </a:r>
            <a:r>
              <a:rPr lang="en-GB" dirty="0"/>
              <a:t>relevant benchmark</a:t>
            </a:r>
            <a:r>
              <a:rPr lang="en-GB" dirty="0" smtClean="0"/>
              <a:t>.</a:t>
            </a:r>
          </a:p>
          <a:p>
            <a:pPr marL="285750" indent="-285750">
              <a:lnSpc>
                <a:spcPct val="150000"/>
              </a:lnSpc>
              <a:buFont typeface="Arial" panose="020B0604020202020204" pitchFamily="34" charset="0"/>
              <a:buChar char="•"/>
            </a:pPr>
            <a:r>
              <a:rPr lang="en-US" dirty="0" smtClean="0"/>
              <a:t>From the visualization we can understand that Amazon and Google tops the list with high relative strength in accordance with SP500</a:t>
            </a:r>
            <a:endParaRPr lang="en-GB" dirty="0"/>
          </a:p>
        </p:txBody>
      </p:sp>
    </p:spTree>
    <p:extLst>
      <p:ext uri="{BB962C8B-B14F-4D97-AF65-F5344CB8AC3E}">
        <p14:creationId xmlns:p14="http://schemas.microsoft.com/office/powerpoint/2010/main" val="1823199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97539" y="343057"/>
            <a:ext cx="3505199" cy="976312"/>
          </a:xfrm>
        </p:spPr>
        <p:txBody>
          <a:bodyPr/>
          <a:lstStyle/>
          <a:p>
            <a:r>
              <a:rPr lang="en-US" dirty="0" smtClean="0"/>
              <a:t>Annualized returns</a:t>
            </a:r>
            <a:endParaRPr lang="en-GB" dirty="0"/>
          </a:p>
        </p:txBody>
      </p:sp>
      <p:pic>
        <p:nvPicPr>
          <p:cNvPr id="7" name="Content Placeholder 6"/>
          <p:cNvPicPr>
            <a:picLocks noGrp="1" noChangeAspect="1"/>
          </p:cNvPicPr>
          <p:nvPr>
            <p:ph idx="1"/>
          </p:nvPr>
        </p:nvPicPr>
        <p:blipFill>
          <a:blip r:embed="rId2"/>
          <a:stretch>
            <a:fillRect/>
          </a:stretch>
        </p:blipFill>
        <p:spPr>
          <a:xfrm>
            <a:off x="5102738" y="964532"/>
            <a:ext cx="7108240" cy="4521867"/>
          </a:xfrm>
          <a:prstGeom prst="rect">
            <a:avLst/>
          </a:prstGeom>
        </p:spPr>
      </p:pic>
      <p:sp>
        <p:nvSpPr>
          <p:cNvPr id="6" name="Text Placeholder 5"/>
          <p:cNvSpPr>
            <a:spLocks noGrp="1"/>
          </p:cNvSpPr>
          <p:nvPr>
            <p:ph type="body" sz="half" idx="2"/>
          </p:nvPr>
        </p:nvSpPr>
        <p:spPr>
          <a:xfrm>
            <a:off x="1597539" y="1598613"/>
            <a:ext cx="3505199" cy="4262436"/>
          </a:xfrm>
        </p:spPr>
        <p:txBody>
          <a:bodyPr>
            <a:normAutofit/>
          </a:bodyPr>
          <a:lstStyle/>
          <a:p>
            <a:pPr marL="285750" indent="-285750">
              <a:lnSpc>
                <a:spcPct val="150000"/>
              </a:lnSpc>
              <a:buFont typeface="Arial" panose="020B0604020202020204" pitchFamily="34" charset="0"/>
              <a:buChar char="•"/>
            </a:pPr>
            <a:r>
              <a:rPr lang="en-GB" dirty="0"/>
              <a:t>An annualized total return is the average amount of money earned by an investment each year over a </a:t>
            </a:r>
            <a:r>
              <a:rPr lang="en-GB" dirty="0" smtClean="0"/>
              <a:t>given </a:t>
            </a:r>
            <a:r>
              <a:rPr lang="en-GB" dirty="0"/>
              <a:t>time period</a:t>
            </a:r>
            <a:r>
              <a:rPr lang="en-GB" dirty="0" smtClean="0"/>
              <a:t>.</a:t>
            </a:r>
          </a:p>
          <a:p>
            <a:pPr marL="285750" indent="-285750">
              <a:lnSpc>
                <a:spcPct val="150000"/>
              </a:lnSpc>
              <a:buFont typeface="Arial" panose="020B0604020202020204" pitchFamily="34" charset="0"/>
              <a:buChar char="•"/>
            </a:pPr>
            <a:r>
              <a:rPr lang="en-US" dirty="0" smtClean="0"/>
              <a:t>We can see from the visualization that Amazon, Microsoft, Apple and Facebook which belong to the technology industry tops the list of stocks with Annualized returns greater than 25%.</a:t>
            </a:r>
            <a:endParaRPr lang="en-GB" dirty="0"/>
          </a:p>
        </p:txBody>
      </p:sp>
    </p:spTree>
    <p:extLst>
      <p:ext uri="{BB962C8B-B14F-4D97-AF65-F5344CB8AC3E}">
        <p14:creationId xmlns:p14="http://schemas.microsoft.com/office/powerpoint/2010/main" val="55073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7538" y="355936"/>
            <a:ext cx="3505199" cy="976312"/>
          </a:xfrm>
        </p:spPr>
        <p:txBody>
          <a:bodyPr/>
          <a:lstStyle/>
          <a:p>
            <a:r>
              <a:rPr lang="en-US" dirty="0" smtClean="0"/>
              <a:t>Cumulative Returns</a:t>
            </a:r>
            <a:endParaRPr lang="en-GB" dirty="0"/>
          </a:p>
        </p:txBody>
      </p:sp>
      <p:pic>
        <p:nvPicPr>
          <p:cNvPr id="5" name="Content Placeholder 4"/>
          <p:cNvPicPr>
            <a:picLocks noGrp="1" noChangeAspect="1"/>
          </p:cNvPicPr>
          <p:nvPr>
            <p:ph idx="1"/>
          </p:nvPr>
        </p:nvPicPr>
        <p:blipFill>
          <a:blip r:embed="rId2"/>
          <a:stretch>
            <a:fillRect/>
          </a:stretch>
        </p:blipFill>
        <p:spPr>
          <a:xfrm>
            <a:off x="5102736" y="1112405"/>
            <a:ext cx="7089263" cy="4457577"/>
          </a:xfrm>
          <a:prstGeom prst="rect">
            <a:avLst/>
          </a:prstGeom>
        </p:spPr>
      </p:pic>
      <p:sp>
        <p:nvSpPr>
          <p:cNvPr id="4" name="Text Placeholder 3"/>
          <p:cNvSpPr>
            <a:spLocks noGrp="1"/>
          </p:cNvSpPr>
          <p:nvPr>
            <p:ph type="body" sz="half" idx="2"/>
          </p:nvPr>
        </p:nvSpPr>
        <p:spPr>
          <a:xfrm>
            <a:off x="1597538" y="1766038"/>
            <a:ext cx="3505199" cy="4262436"/>
          </a:xfrm>
        </p:spPr>
        <p:txBody>
          <a:bodyPr>
            <a:normAutofit/>
          </a:bodyPr>
          <a:lstStyle/>
          <a:p>
            <a:pPr marL="285750" indent="-285750">
              <a:lnSpc>
                <a:spcPct val="150000"/>
              </a:lnSpc>
              <a:buFont typeface="Arial" panose="020B0604020202020204" pitchFamily="34" charset="0"/>
              <a:buChar char="•"/>
            </a:pPr>
            <a:r>
              <a:rPr lang="en-GB" dirty="0"/>
              <a:t>The cumulative return is the total change in the investment price over a set time—an aggregate return, not an annualized </a:t>
            </a:r>
            <a:r>
              <a:rPr lang="en-GB" dirty="0" smtClean="0"/>
              <a:t>one.</a:t>
            </a:r>
          </a:p>
          <a:p>
            <a:pPr marL="285750" indent="-285750">
              <a:lnSpc>
                <a:spcPct val="150000"/>
              </a:lnSpc>
              <a:buFont typeface="Arial" panose="020B0604020202020204" pitchFamily="34" charset="0"/>
              <a:buChar char="•"/>
            </a:pPr>
            <a:r>
              <a:rPr lang="en-US" dirty="0"/>
              <a:t>We can see from the visualization that Amazon, Microsoft, Apple and Facebook which belong to the technology industry tops the list of stocks with </a:t>
            </a:r>
            <a:r>
              <a:rPr lang="en-US" dirty="0" smtClean="0"/>
              <a:t>Cumulative returns </a:t>
            </a:r>
            <a:r>
              <a:rPr lang="en-US" dirty="0"/>
              <a:t>greater than </a:t>
            </a:r>
            <a:r>
              <a:rPr lang="en-US" dirty="0" smtClean="0"/>
              <a:t>180%.</a:t>
            </a:r>
            <a:endParaRPr lang="en-GB" dirty="0"/>
          </a:p>
          <a:p>
            <a:pPr marL="285750" indent="-285750">
              <a:lnSpc>
                <a:spcPct val="150000"/>
              </a:lnSpc>
              <a:buFont typeface="Arial" panose="020B0604020202020204" pitchFamily="34" charset="0"/>
              <a:buChar char="•"/>
            </a:pPr>
            <a:endParaRPr lang="en-GB" dirty="0"/>
          </a:p>
        </p:txBody>
      </p:sp>
    </p:spTree>
    <p:extLst>
      <p:ext uri="{BB962C8B-B14F-4D97-AF65-F5344CB8AC3E}">
        <p14:creationId xmlns:p14="http://schemas.microsoft.com/office/powerpoint/2010/main" val="3951659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7538" y="368814"/>
            <a:ext cx="3505199" cy="976312"/>
          </a:xfrm>
        </p:spPr>
        <p:txBody>
          <a:bodyPr/>
          <a:lstStyle/>
          <a:p>
            <a:r>
              <a:rPr lang="en-US" dirty="0" smtClean="0"/>
              <a:t>Annualized Risk</a:t>
            </a:r>
            <a:endParaRPr lang="en-GB" dirty="0"/>
          </a:p>
        </p:txBody>
      </p:sp>
      <p:pic>
        <p:nvPicPr>
          <p:cNvPr id="5" name="Content Placeholder 4"/>
          <p:cNvPicPr>
            <a:picLocks noGrp="1" noChangeAspect="1"/>
          </p:cNvPicPr>
          <p:nvPr>
            <p:ph idx="1"/>
          </p:nvPr>
        </p:nvPicPr>
        <p:blipFill>
          <a:blip r:embed="rId2"/>
          <a:stretch>
            <a:fillRect/>
          </a:stretch>
        </p:blipFill>
        <p:spPr>
          <a:xfrm>
            <a:off x="5102736" y="856970"/>
            <a:ext cx="7099671" cy="4449126"/>
          </a:xfrm>
          <a:prstGeom prst="rect">
            <a:avLst/>
          </a:prstGeom>
        </p:spPr>
      </p:pic>
      <p:sp>
        <p:nvSpPr>
          <p:cNvPr id="4" name="Text Placeholder 3"/>
          <p:cNvSpPr>
            <a:spLocks noGrp="1"/>
          </p:cNvSpPr>
          <p:nvPr>
            <p:ph type="body" sz="half" idx="2"/>
          </p:nvPr>
        </p:nvSpPr>
        <p:spPr>
          <a:xfrm>
            <a:off x="1597538" y="1714523"/>
            <a:ext cx="3505199" cy="4262436"/>
          </a:xfrm>
        </p:spPr>
        <p:txBody>
          <a:bodyPr/>
          <a:lstStyle/>
          <a:p>
            <a:pPr marL="285750" indent="-285750">
              <a:lnSpc>
                <a:spcPct val="150000"/>
              </a:lnSpc>
              <a:buFont typeface="Arial" panose="020B0604020202020204" pitchFamily="34" charset="0"/>
              <a:buChar char="•"/>
            </a:pPr>
            <a:r>
              <a:rPr lang="en-US" dirty="0" smtClean="0"/>
              <a:t>The volatility in the stock returns observed over a period of time normalized to one year</a:t>
            </a:r>
          </a:p>
          <a:p>
            <a:pPr marL="285750" indent="-285750">
              <a:lnSpc>
                <a:spcPct val="150000"/>
              </a:lnSpc>
              <a:buFont typeface="Arial" panose="020B0604020202020204" pitchFamily="34" charset="0"/>
              <a:buChar char="•"/>
            </a:pPr>
            <a:r>
              <a:rPr lang="en-GB" dirty="0" smtClean="0"/>
              <a:t>Bausch </a:t>
            </a:r>
            <a:r>
              <a:rPr lang="en-GB" dirty="0"/>
              <a:t>Health Companies </a:t>
            </a:r>
            <a:r>
              <a:rPr lang="en-GB" dirty="0" err="1" smtClean="0"/>
              <a:t>inc</a:t>
            </a:r>
            <a:r>
              <a:rPr lang="en-GB" dirty="0" smtClean="0"/>
              <a:t>(70.722112736), American </a:t>
            </a:r>
            <a:r>
              <a:rPr lang="en-GB" dirty="0"/>
              <a:t>Airlines Group </a:t>
            </a:r>
            <a:r>
              <a:rPr lang="en-GB" dirty="0" err="1" smtClean="0"/>
              <a:t>Inc</a:t>
            </a:r>
            <a:r>
              <a:rPr lang="en-GB" dirty="0" smtClean="0"/>
              <a:t>(55.123956562), Hawaiian </a:t>
            </a:r>
            <a:r>
              <a:rPr lang="en-GB" dirty="0"/>
              <a:t>Holdings </a:t>
            </a:r>
            <a:r>
              <a:rPr lang="en-GB" dirty="0" smtClean="0"/>
              <a:t>Inc. (52.595000865) posses risk greater than 50%.</a:t>
            </a:r>
            <a:endParaRPr lang="en-GB" dirty="0"/>
          </a:p>
          <a:p>
            <a:pPr marL="285750" indent="-285750">
              <a:lnSpc>
                <a:spcPct val="150000"/>
              </a:lnSpc>
              <a:buFont typeface="Arial" panose="020B0604020202020204" pitchFamily="34" charset="0"/>
              <a:buChar char="•"/>
            </a:pPr>
            <a:endParaRPr lang="en-GB" dirty="0"/>
          </a:p>
          <a:p>
            <a:pPr marL="285750" indent="-285750">
              <a:lnSpc>
                <a:spcPct val="150000"/>
              </a:lnSpc>
              <a:buFont typeface="Arial" panose="020B0604020202020204" pitchFamily="34" charset="0"/>
              <a:buChar char="•"/>
            </a:pPr>
            <a:endParaRPr lang="en-GB" dirty="0"/>
          </a:p>
          <a:p>
            <a:pPr marL="285750" indent="-285750">
              <a:lnSpc>
                <a:spcPct val="150000"/>
              </a:lnSpc>
              <a:buFont typeface="Arial" panose="020B0604020202020204" pitchFamily="34" charset="0"/>
              <a:buChar char="•"/>
            </a:pPr>
            <a:endParaRPr lang="en-GB" dirty="0"/>
          </a:p>
        </p:txBody>
      </p:sp>
    </p:spTree>
    <p:extLst>
      <p:ext uri="{BB962C8B-B14F-4D97-AF65-F5344CB8AC3E}">
        <p14:creationId xmlns:p14="http://schemas.microsoft.com/office/powerpoint/2010/main" val="3632736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7538" y="0"/>
            <a:ext cx="3505199" cy="721217"/>
          </a:xfrm>
        </p:spPr>
        <p:txBody>
          <a:bodyPr/>
          <a:lstStyle/>
          <a:p>
            <a:r>
              <a:rPr lang="en-US" dirty="0" smtClean="0"/>
              <a:t>Sharpe Ratio</a:t>
            </a:r>
            <a:endParaRPr lang="en-GB" dirty="0"/>
          </a:p>
        </p:txBody>
      </p:sp>
      <p:pic>
        <p:nvPicPr>
          <p:cNvPr id="5" name="Content Placeholder 4"/>
          <p:cNvPicPr>
            <a:picLocks noGrp="1" noChangeAspect="1"/>
          </p:cNvPicPr>
          <p:nvPr>
            <p:ph idx="1"/>
          </p:nvPr>
        </p:nvPicPr>
        <p:blipFill>
          <a:blip r:embed="rId2"/>
          <a:stretch>
            <a:fillRect/>
          </a:stretch>
        </p:blipFill>
        <p:spPr>
          <a:xfrm>
            <a:off x="5102737" y="0"/>
            <a:ext cx="7072660" cy="4365937"/>
          </a:xfrm>
          <a:prstGeom prst="rect">
            <a:avLst/>
          </a:prstGeom>
        </p:spPr>
      </p:pic>
      <p:sp>
        <p:nvSpPr>
          <p:cNvPr id="4" name="Text Placeholder 3"/>
          <p:cNvSpPr>
            <a:spLocks noGrp="1"/>
          </p:cNvSpPr>
          <p:nvPr>
            <p:ph type="body" sz="half" idx="2"/>
          </p:nvPr>
        </p:nvSpPr>
        <p:spPr>
          <a:xfrm>
            <a:off x="1597538" y="969039"/>
            <a:ext cx="3505199" cy="4262436"/>
          </a:xfrm>
        </p:spPr>
        <p:txBody>
          <a:bodyPr/>
          <a:lstStyle/>
          <a:p>
            <a:pPr marL="285750" indent="-285750">
              <a:buFont typeface="Arial" panose="020B0604020202020204" pitchFamily="34" charset="0"/>
              <a:buChar char="•"/>
            </a:pPr>
            <a:r>
              <a:rPr lang="en-GB" dirty="0"/>
              <a:t>Sharpe ratio is the measure of risk-adjusted return of a financial portfolio. A portfolio with a higher Sharpe ratio is considered superior relative to its peers</a:t>
            </a:r>
            <a:r>
              <a:rPr lang="en-GB" dirty="0" smtClean="0"/>
              <a:t>.</a:t>
            </a:r>
          </a:p>
          <a:p>
            <a:pPr marL="285750" indent="-285750">
              <a:buFont typeface="Arial" panose="020B0604020202020204" pitchFamily="34" charset="0"/>
              <a:buChar char="•"/>
            </a:pPr>
            <a:r>
              <a:rPr lang="en-US" dirty="0" smtClean="0"/>
              <a:t>The stock selection would be based on the Sharpe ratio greater than 1 of the stocks.</a:t>
            </a:r>
            <a:endParaRPr lang="en-GB" dirty="0"/>
          </a:p>
        </p:txBody>
      </p:sp>
      <p:pic>
        <p:nvPicPr>
          <p:cNvPr id="6" name="Picture 5"/>
          <p:cNvPicPr>
            <a:picLocks noChangeAspect="1"/>
          </p:cNvPicPr>
          <p:nvPr/>
        </p:nvPicPr>
        <p:blipFill>
          <a:blip r:embed="rId3"/>
          <a:stretch>
            <a:fillRect/>
          </a:stretch>
        </p:blipFill>
        <p:spPr>
          <a:xfrm>
            <a:off x="151884" y="3337057"/>
            <a:ext cx="5527700" cy="3520943"/>
          </a:xfrm>
          <a:prstGeom prst="rect">
            <a:avLst/>
          </a:prstGeom>
        </p:spPr>
      </p:pic>
    </p:spTree>
    <p:extLst>
      <p:ext uri="{BB962C8B-B14F-4D97-AF65-F5344CB8AC3E}">
        <p14:creationId xmlns:p14="http://schemas.microsoft.com/office/powerpoint/2010/main" val="765428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0418" y="368814"/>
            <a:ext cx="3505199" cy="976312"/>
          </a:xfrm>
        </p:spPr>
        <p:txBody>
          <a:bodyPr/>
          <a:lstStyle/>
          <a:p>
            <a:r>
              <a:rPr lang="en-US" dirty="0" smtClean="0"/>
              <a:t>Portfolio Stocks for </a:t>
            </a:r>
            <a:r>
              <a:rPr lang="en-GB" dirty="0"/>
              <a:t>Mr Patrick </a:t>
            </a:r>
            <a:r>
              <a:rPr lang="en-GB" dirty="0" err="1"/>
              <a:t>Jyenger</a:t>
            </a:r>
            <a:endParaRPr lang="en-GB" dirty="0"/>
          </a:p>
        </p:txBody>
      </p:sp>
      <p:pic>
        <p:nvPicPr>
          <p:cNvPr id="5" name="Content Placeholder 4"/>
          <p:cNvPicPr>
            <a:picLocks noGrp="1" noChangeAspect="1"/>
          </p:cNvPicPr>
          <p:nvPr>
            <p:ph idx="1"/>
          </p:nvPr>
        </p:nvPicPr>
        <p:blipFill>
          <a:blip r:embed="rId2"/>
          <a:stretch>
            <a:fillRect/>
          </a:stretch>
        </p:blipFill>
        <p:spPr>
          <a:xfrm>
            <a:off x="5772440" y="0"/>
            <a:ext cx="5895820" cy="3716929"/>
          </a:xfrm>
          <a:prstGeom prst="rect">
            <a:avLst/>
          </a:prstGeom>
        </p:spPr>
      </p:pic>
      <p:sp>
        <p:nvSpPr>
          <p:cNvPr id="4" name="Text Placeholder 3"/>
          <p:cNvSpPr>
            <a:spLocks noGrp="1"/>
          </p:cNvSpPr>
          <p:nvPr>
            <p:ph type="body" sz="half" idx="2"/>
          </p:nvPr>
        </p:nvSpPr>
        <p:spPr>
          <a:xfrm>
            <a:off x="1610418" y="1740280"/>
            <a:ext cx="3505199" cy="4262436"/>
          </a:xfrm>
        </p:spPr>
        <p:txBody>
          <a:bodyPr/>
          <a:lstStyle/>
          <a:p>
            <a:pPr marL="285750" indent="-285750">
              <a:lnSpc>
                <a:spcPct val="200000"/>
              </a:lnSpc>
              <a:buFont typeface="Arial" panose="020B0604020202020204" pitchFamily="34" charset="0"/>
              <a:buChar char="•"/>
            </a:pPr>
            <a:r>
              <a:rPr lang="en-US" dirty="0" smtClean="0"/>
              <a:t>For </a:t>
            </a:r>
            <a:r>
              <a:rPr lang="en-GB" dirty="0"/>
              <a:t> Mr Patrick </a:t>
            </a:r>
            <a:r>
              <a:rPr lang="en-GB" dirty="0" err="1" smtClean="0"/>
              <a:t>Jyenger</a:t>
            </a:r>
            <a:r>
              <a:rPr lang="en-GB" dirty="0" smtClean="0"/>
              <a:t>, we selected </a:t>
            </a:r>
            <a:r>
              <a:rPr lang="en-GB" dirty="0" err="1" smtClean="0"/>
              <a:t>Jhonson</a:t>
            </a:r>
            <a:r>
              <a:rPr lang="en-GB" dirty="0" smtClean="0"/>
              <a:t> &amp; </a:t>
            </a:r>
            <a:r>
              <a:rPr lang="en-GB" dirty="0" err="1" smtClean="0"/>
              <a:t>Jhonson</a:t>
            </a:r>
            <a:r>
              <a:rPr lang="en-GB" dirty="0" smtClean="0"/>
              <a:t> and Alphabet as the combined Portfolio risk is 23% and Portfolio returns is 100% as required by the investor</a:t>
            </a:r>
          </a:p>
          <a:p>
            <a:pPr marL="285750" indent="-285750">
              <a:lnSpc>
                <a:spcPct val="200000"/>
              </a:lnSpc>
              <a:buFont typeface="Arial" panose="020B0604020202020204" pitchFamily="34" charset="0"/>
              <a:buChar char="•"/>
            </a:pPr>
            <a:r>
              <a:rPr lang="en-US" dirty="0" smtClean="0"/>
              <a:t>The </a:t>
            </a:r>
            <a:r>
              <a:rPr lang="en-US" dirty="0" err="1" smtClean="0"/>
              <a:t>sharpe</a:t>
            </a:r>
            <a:r>
              <a:rPr lang="en-US" dirty="0" smtClean="0"/>
              <a:t> ratio for the combined stocks is greater than 1</a:t>
            </a:r>
            <a:endParaRPr lang="en-GB" dirty="0"/>
          </a:p>
        </p:txBody>
      </p:sp>
      <p:pic>
        <p:nvPicPr>
          <p:cNvPr id="6" name="Content Placeholder 4"/>
          <p:cNvPicPr>
            <a:picLocks noChangeAspect="1"/>
          </p:cNvPicPr>
          <p:nvPr/>
        </p:nvPicPr>
        <p:blipFill rotWithShape="1">
          <a:blip r:embed="rId3"/>
          <a:srcRect l="30641" t="34629" b="-1323"/>
          <a:stretch/>
        </p:blipFill>
        <p:spPr>
          <a:xfrm>
            <a:off x="5308801" y="3716929"/>
            <a:ext cx="3773346" cy="2503567"/>
          </a:xfrm>
          <a:prstGeom prst="rect">
            <a:avLst/>
          </a:prstGeom>
        </p:spPr>
      </p:pic>
      <p:pic>
        <p:nvPicPr>
          <p:cNvPr id="3" name="Picture 2"/>
          <p:cNvPicPr>
            <a:picLocks noChangeAspect="1"/>
          </p:cNvPicPr>
          <p:nvPr/>
        </p:nvPicPr>
        <p:blipFill>
          <a:blip r:embed="rId4"/>
          <a:stretch>
            <a:fillRect/>
          </a:stretch>
        </p:blipFill>
        <p:spPr>
          <a:xfrm>
            <a:off x="9082147" y="4098580"/>
            <a:ext cx="3109853" cy="2121916"/>
          </a:xfrm>
          <a:prstGeom prst="rect">
            <a:avLst/>
          </a:prstGeom>
        </p:spPr>
      </p:pic>
      <p:pic>
        <p:nvPicPr>
          <p:cNvPr id="8" name="Picture 7"/>
          <p:cNvPicPr>
            <a:picLocks noChangeAspect="1"/>
          </p:cNvPicPr>
          <p:nvPr/>
        </p:nvPicPr>
        <p:blipFill>
          <a:blip r:embed="rId5"/>
          <a:stretch>
            <a:fillRect/>
          </a:stretch>
        </p:blipFill>
        <p:spPr>
          <a:xfrm>
            <a:off x="9441539" y="6196743"/>
            <a:ext cx="2667372" cy="304843"/>
          </a:xfrm>
          <a:prstGeom prst="rect">
            <a:avLst/>
          </a:prstGeom>
        </p:spPr>
      </p:pic>
      <p:pic>
        <p:nvPicPr>
          <p:cNvPr id="9" name="Picture 8"/>
          <p:cNvPicPr>
            <a:picLocks noChangeAspect="1"/>
          </p:cNvPicPr>
          <p:nvPr/>
        </p:nvPicPr>
        <p:blipFill>
          <a:blip r:embed="rId6"/>
          <a:stretch>
            <a:fillRect/>
          </a:stretch>
        </p:blipFill>
        <p:spPr>
          <a:xfrm>
            <a:off x="6023736" y="6196743"/>
            <a:ext cx="2343477" cy="247685"/>
          </a:xfrm>
          <a:prstGeom prst="rect">
            <a:avLst/>
          </a:prstGeom>
        </p:spPr>
      </p:pic>
    </p:spTree>
    <p:extLst>
      <p:ext uri="{BB962C8B-B14F-4D97-AF65-F5344CB8AC3E}">
        <p14:creationId xmlns:p14="http://schemas.microsoft.com/office/powerpoint/2010/main" val="181138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0418" y="343057"/>
            <a:ext cx="3505199" cy="976312"/>
          </a:xfrm>
        </p:spPr>
        <p:txBody>
          <a:bodyPr/>
          <a:lstStyle/>
          <a:p>
            <a:r>
              <a:rPr lang="en-US" dirty="0"/>
              <a:t>Portfolio Stocks for </a:t>
            </a:r>
            <a:r>
              <a:rPr lang="en-GB" dirty="0"/>
              <a:t>Mr Peter </a:t>
            </a:r>
            <a:r>
              <a:rPr lang="en-GB" dirty="0" err="1"/>
              <a:t>Jyenger</a:t>
            </a:r>
            <a:endParaRPr lang="en-GB" dirty="0"/>
          </a:p>
        </p:txBody>
      </p:sp>
      <p:pic>
        <p:nvPicPr>
          <p:cNvPr id="5" name="Content Placeholder 4"/>
          <p:cNvPicPr>
            <a:picLocks noGrp="1" noChangeAspect="1"/>
          </p:cNvPicPr>
          <p:nvPr>
            <p:ph idx="1"/>
          </p:nvPr>
        </p:nvPicPr>
        <p:blipFill>
          <a:blip r:embed="rId2"/>
          <a:stretch>
            <a:fillRect/>
          </a:stretch>
        </p:blipFill>
        <p:spPr>
          <a:xfrm>
            <a:off x="5106343" y="0"/>
            <a:ext cx="7085425" cy="3657223"/>
          </a:xfrm>
          <a:prstGeom prst="rect">
            <a:avLst/>
          </a:prstGeom>
        </p:spPr>
      </p:pic>
      <p:sp>
        <p:nvSpPr>
          <p:cNvPr id="4" name="Text Placeholder 3"/>
          <p:cNvSpPr>
            <a:spLocks noGrp="1"/>
          </p:cNvSpPr>
          <p:nvPr>
            <p:ph type="body" sz="half" idx="2"/>
          </p:nvPr>
        </p:nvSpPr>
        <p:spPr>
          <a:xfrm>
            <a:off x="1610418" y="1688766"/>
            <a:ext cx="3505199" cy="4262436"/>
          </a:xfrm>
        </p:spPr>
        <p:txBody>
          <a:bodyPr/>
          <a:lstStyle/>
          <a:p>
            <a:pPr marL="285750" indent="-285750">
              <a:lnSpc>
                <a:spcPct val="200000"/>
              </a:lnSpc>
              <a:buFont typeface="Arial" panose="020B0604020202020204" pitchFamily="34" charset="0"/>
              <a:buChar char="•"/>
            </a:pPr>
            <a:r>
              <a:rPr lang="en-US" dirty="0"/>
              <a:t>For </a:t>
            </a:r>
            <a:r>
              <a:rPr lang="en-GB" dirty="0"/>
              <a:t> Mr Patrick </a:t>
            </a:r>
            <a:r>
              <a:rPr lang="en-GB" dirty="0" err="1"/>
              <a:t>Jyenger</a:t>
            </a:r>
            <a:r>
              <a:rPr lang="en-GB" dirty="0"/>
              <a:t>, we selected </a:t>
            </a:r>
            <a:r>
              <a:rPr lang="en-GB" dirty="0" smtClean="0"/>
              <a:t>Amazon as </a:t>
            </a:r>
            <a:r>
              <a:rPr lang="en-GB" dirty="0"/>
              <a:t>the </a:t>
            </a:r>
            <a:r>
              <a:rPr lang="en-GB" dirty="0" smtClean="0"/>
              <a:t>Portfolio </a:t>
            </a:r>
            <a:r>
              <a:rPr lang="en-GB" dirty="0"/>
              <a:t>risk is </a:t>
            </a:r>
            <a:r>
              <a:rPr lang="en-GB" dirty="0" smtClean="0"/>
              <a:t>30% </a:t>
            </a:r>
            <a:r>
              <a:rPr lang="en-GB" dirty="0"/>
              <a:t>and Portfolio returns is </a:t>
            </a:r>
            <a:r>
              <a:rPr lang="en-GB" dirty="0" smtClean="0"/>
              <a:t>505% </a:t>
            </a:r>
            <a:r>
              <a:rPr lang="en-GB" dirty="0"/>
              <a:t>as required by the investor</a:t>
            </a:r>
            <a:r>
              <a:rPr lang="en-GB" dirty="0" smtClean="0"/>
              <a:t>.</a:t>
            </a:r>
          </a:p>
          <a:p>
            <a:pPr marL="285750" indent="-285750">
              <a:lnSpc>
                <a:spcPct val="200000"/>
              </a:lnSpc>
              <a:buFont typeface="Arial" panose="020B0604020202020204" pitchFamily="34" charset="0"/>
              <a:buChar char="•"/>
            </a:pPr>
            <a:r>
              <a:rPr lang="en-US" dirty="0" smtClean="0"/>
              <a:t>The </a:t>
            </a:r>
            <a:r>
              <a:rPr lang="en-US" dirty="0" err="1" smtClean="0"/>
              <a:t>sharpe</a:t>
            </a:r>
            <a:r>
              <a:rPr lang="en-US" dirty="0" smtClean="0"/>
              <a:t> ratio for the stock is greater than 1</a:t>
            </a:r>
            <a:endParaRPr lang="en-GB" dirty="0"/>
          </a:p>
          <a:p>
            <a:endParaRPr lang="en-GB" dirty="0"/>
          </a:p>
        </p:txBody>
      </p:sp>
      <p:pic>
        <p:nvPicPr>
          <p:cNvPr id="3" name="Picture 2"/>
          <p:cNvPicPr>
            <a:picLocks noChangeAspect="1"/>
          </p:cNvPicPr>
          <p:nvPr/>
        </p:nvPicPr>
        <p:blipFill>
          <a:blip r:embed="rId3"/>
          <a:stretch>
            <a:fillRect/>
          </a:stretch>
        </p:blipFill>
        <p:spPr>
          <a:xfrm>
            <a:off x="4947636" y="3657189"/>
            <a:ext cx="3654341" cy="2125425"/>
          </a:xfrm>
          <a:prstGeom prst="rect">
            <a:avLst/>
          </a:prstGeom>
        </p:spPr>
      </p:pic>
      <p:pic>
        <p:nvPicPr>
          <p:cNvPr id="6" name="Picture 5"/>
          <p:cNvPicPr>
            <a:picLocks noChangeAspect="1"/>
          </p:cNvPicPr>
          <p:nvPr/>
        </p:nvPicPr>
        <p:blipFill>
          <a:blip r:embed="rId4"/>
          <a:stretch>
            <a:fillRect/>
          </a:stretch>
        </p:blipFill>
        <p:spPr>
          <a:xfrm>
            <a:off x="8601978" y="3612666"/>
            <a:ext cx="3589790" cy="2169948"/>
          </a:xfrm>
          <a:prstGeom prst="rect">
            <a:avLst/>
          </a:prstGeom>
        </p:spPr>
      </p:pic>
      <p:pic>
        <p:nvPicPr>
          <p:cNvPr id="7" name="Picture 6"/>
          <p:cNvPicPr>
            <a:picLocks noChangeAspect="1"/>
          </p:cNvPicPr>
          <p:nvPr/>
        </p:nvPicPr>
        <p:blipFill>
          <a:blip r:embed="rId5"/>
          <a:stretch>
            <a:fillRect/>
          </a:stretch>
        </p:blipFill>
        <p:spPr>
          <a:xfrm>
            <a:off x="9042816" y="5951202"/>
            <a:ext cx="2429214" cy="314369"/>
          </a:xfrm>
          <a:prstGeom prst="rect">
            <a:avLst/>
          </a:prstGeom>
        </p:spPr>
      </p:pic>
      <p:pic>
        <p:nvPicPr>
          <p:cNvPr id="8" name="Picture 7"/>
          <p:cNvPicPr>
            <a:picLocks noChangeAspect="1"/>
          </p:cNvPicPr>
          <p:nvPr/>
        </p:nvPicPr>
        <p:blipFill>
          <a:blip r:embed="rId6"/>
          <a:stretch>
            <a:fillRect/>
          </a:stretch>
        </p:blipFill>
        <p:spPr>
          <a:xfrm>
            <a:off x="5326548" y="5951202"/>
            <a:ext cx="2276793" cy="352474"/>
          </a:xfrm>
          <a:prstGeom prst="rect">
            <a:avLst/>
          </a:prstGeom>
        </p:spPr>
      </p:pic>
    </p:spTree>
    <p:extLst>
      <p:ext uri="{BB962C8B-B14F-4D97-AF65-F5344CB8AC3E}">
        <p14:creationId xmlns:p14="http://schemas.microsoft.com/office/powerpoint/2010/main" val="2515154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400023" y="2627290"/>
            <a:ext cx="8409905" cy="1236372"/>
          </a:xfrm>
        </p:spPr>
        <p:txBody>
          <a:bodyPr>
            <a:noAutofit/>
          </a:bodyPr>
          <a:lstStyle/>
          <a:p>
            <a:r>
              <a:rPr lang="en-US" sz="9600" dirty="0" smtClean="0">
                <a:latin typeface="Arial Unicode MS" panose="020B0604020202020204" pitchFamily="34" charset="-128"/>
                <a:ea typeface="Arial Unicode MS" panose="020B0604020202020204" pitchFamily="34" charset="-128"/>
                <a:cs typeface="Arial Unicode MS" panose="020B0604020202020204" pitchFamily="34" charset="-128"/>
              </a:rPr>
              <a:t>THE END</a:t>
            </a:r>
            <a:endParaRPr lang="en-GB" sz="96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82760025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990</TotalTime>
  <Words>734</Words>
  <Application>Microsoft Office PowerPoint</Application>
  <PresentationFormat>Widescreen</PresentationFormat>
  <Paragraphs>49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 Unicode MS</vt:lpstr>
      <vt:lpstr>Arial</vt:lpstr>
      <vt:lpstr>Century Gothic</vt:lpstr>
      <vt:lpstr>Helvetica Neue</vt:lpstr>
      <vt:lpstr>Wingdings 3</vt:lpstr>
      <vt:lpstr>Wisp</vt:lpstr>
      <vt:lpstr>Finance and Risk Analytics - Capstone Project  BY – N V V Krishna Priya </vt:lpstr>
      <vt:lpstr>Problem statement</vt:lpstr>
      <vt:lpstr>Executive Summary</vt:lpstr>
      <vt:lpstr>Stock selection and allocation</vt:lpstr>
      <vt:lpstr>Portfolio Description</vt:lpstr>
      <vt:lpstr>Stock visualization with and without normalization</vt:lpstr>
      <vt:lpstr>Relative strength analysis</vt:lpstr>
      <vt:lpstr>Annualized returns</vt:lpstr>
      <vt:lpstr>Cumulative Returns</vt:lpstr>
      <vt:lpstr>Annualized Risk</vt:lpstr>
      <vt:lpstr>Sharpe Ratio</vt:lpstr>
      <vt:lpstr>Portfolio Stocks for Mr Patrick Jyenger</vt:lpstr>
      <vt:lpstr>Portfolio Stocks for Mr Peter Jyenger</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 Raghuram 2013047</dc:creator>
  <cp:lastModifiedBy>Shiva Raghuram 2013047</cp:lastModifiedBy>
  <cp:revision>31</cp:revision>
  <dcterms:created xsi:type="dcterms:W3CDTF">2022-02-08T12:36:40Z</dcterms:created>
  <dcterms:modified xsi:type="dcterms:W3CDTF">2022-02-11T15:19:57Z</dcterms:modified>
</cp:coreProperties>
</file>